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1410" y="3404116"/>
            <a:ext cx="3040261" cy="1421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4037" y="1385292"/>
            <a:ext cx="9244727" cy="3193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8384"/>
              </a:lnSpc>
              <a:buNone/>
            </a:pPr>
            <a:r>
              <a:rPr lang="en-US" sz="670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Introduction to Stock Market Prediction</a:t>
            </a:r>
            <a:endParaRPr lang="en-US" sz="6707" dirty="0"/>
          </a:p>
        </p:txBody>
      </p:sp>
      <p:sp>
        <p:nvSpPr>
          <p:cNvPr id="7" name="Text 3"/>
          <p:cNvSpPr/>
          <p:nvPr/>
        </p:nvSpPr>
        <p:spPr>
          <a:xfrm>
            <a:off x="864037" y="4949547"/>
            <a:ext cx="9244727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Stock market prediction is the attempt to predict the future movements of stock prices. This is a complex task due to the many factors that influence stock prices.</a:t>
            </a:r>
            <a:endParaRPr lang="en-US" sz="1944" dirty="0"/>
          </a:p>
        </p:txBody>
      </p:sp>
      <p:sp>
        <p:nvSpPr>
          <p:cNvPr id="8" name="Shape 4"/>
          <p:cNvSpPr/>
          <p:nvPr/>
        </p:nvSpPr>
        <p:spPr>
          <a:xfrm>
            <a:off x="864037" y="6430804"/>
            <a:ext cx="394930" cy="394930"/>
          </a:xfrm>
          <a:prstGeom prst="roundRect">
            <a:avLst>
              <a:gd name="adj" fmla="val 23151155"/>
            </a:avLst>
          </a:prstGeom>
          <a:solidFill>
            <a:srgbClr val="44AE51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90362" y="6579513"/>
            <a:ext cx="142280" cy="975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68" dirty="0">
                <a:solidFill>
                  <a:srgbClr val="3C38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</a:t>
            </a:r>
            <a:endParaRPr lang="en-US" sz="768" dirty="0"/>
          </a:p>
        </p:txBody>
      </p:sp>
      <p:sp>
        <p:nvSpPr>
          <p:cNvPr id="10" name="Text 6"/>
          <p:cNvSpPr/>
          <p:nvPr/>
        </p:nvSpPr>
        <p:spPr>
          <a:xfrm>
            <a:off x="1382316" y="6412349"/>
            <a:ext cx="2512338" cy="4319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243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Sonal Mhatre</a:t>
            </a:r>
            <a:endParaRPr lang="en-US" sz="2430" dirty="0"/>
          </a:p>
        </p:txBody>
      </p:sp>
      <p:pic>
        <p:nvPicPr>
          <p:cNvPr id="11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98" y="2259449"/>
            <a:ext cx="5054203" cy="37107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4837" y="611148"/>
            <a:ext cx="7934325" cy="1080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53"/>
              </a:lnSpc>
              <a:buNone/>
            </a:pPr>
            <a:r>
              <a:rPr lang="en-US" sz="3402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Understanding Stock Market Fundamentals</a:t>
            </a:r>
            <a:endParaRPr lang="en-US" sz="3402" dirty="0"/>
          </a:p>
        </p:txBody>
      </p:sp>
      <p:sp>
        <p:nvSpPr>
          <p:cNvPr id="7" name="Shape 3"/>
          <p:cNvSpPr/>
          <p:nvPr/>
        </p:nvSpPr>
        <p:spPr>
          <a:xfrm>
            <a:off x="604837" y="1950482"/>
            <a:ext cx="7934325" cy="1287423"/>
          </a:xfrm>
          <a:prstGeom prst="roundRect">
            <a:avLst>
              <a:gd name="adj" fmla="val 563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5217" y="2130862"/>
            <a:ext cx="2711648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Supply and Demand</a:t>
            </a:r>
            <a:endParaRPr lang="en-US" sz="1701" dirty="0"/>
          </a:p>
        </p:txBody>
      </p:sp>
      <p:sp>
        <p:nvSpPr>
          <p:cNvPr id="9" name="Text 5"/>
          <p:cNvSpPr/>
          <p:nvPr/>
        </p:nvSpPr>
        <p:spPr>
          <a:xfrm>
            <a:off x="785217" y="2504361"/>
            <a:ext cx="7573566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basic principle that drives stock prices. When demand for a stock is higher than supply, the price rises, and vice versa.</a:t>
            </a:r>
            <a:endParaRPr lang="en-US" sz="1361" dirty="0"/>
          </a:p>
        </p:txBody>
      </p:sp>
      <p:sp>
        <p:nvSpPr>
          <p:cNvPr id="10" name="Shape 6"/>
          <p:cNvSpPr/>
          <p:nvPr/>
        </p:nvSpPr>
        <p:spPr>
          <a:xfrm>
            <a:off x="604837" y="3410664"/>
            <a:ext cx="7934325" cy="1287423"/>
          </a:xfrm>
          <a:prstGeom prst="roundRect">
            <a:avLst>
              <a:gd name="adj" fmla="val 563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5217" y="3591044"/>
            <a:ext cx="3163014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Company Performance</a:t>
            </a:r>
            <a:endParaRPr lang="en-US" sz="1701" dirty="0"/>
          </a:p>
        </p:txBody>
      </p:sp>
      <p:sp>
        <p:nvSpPr>
          <p:cNvPr id="12" name="Text 8"/>
          <p:cNvSpPr/>
          <p:nvPr/>
        </p:nvSpPr>
        <p:spPr>
          <a:xfrm>
            <a:off x="785217" y="3964543"/>
            <a:ext cx="7573566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Earnings, revenue, and other financial metrics impact a company's value and influence investor sentiment, affecting stock prices.</a:t>
            </a:r>
            <a:endParaRPr lang="en-US" sz="1361" dirty="0"/>
          </a:p>
        </p:txBody>
      </p:sp>
      <p:sp>
        <p:nvSpPr>
          <p:cNvPr id="13" name="Shape 9"/>
          <p:cNvSpPr/>
          <p:nvPr/>
        </p:nvSpPr>
        <p:spPr>
          <a:xfrm>
            <a:off x="604837" y="4870847"/>
            <a:ext cx="7934325" cy="1287423"/>
          </a:xfrm>
          <a:prstGeom prst="roundRect">
            <a:avLst>
              <a:gd name="adj" fmla="val 563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5217" y="5051227"/>
            <a:ext cx="2800707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Economic Indicators</a:t>
            </a:r>
            <a:endParaRPr lang="en-US" sz="1701" dirty="0"/>
          </a:p>
        </p:txBody>
      </p:sp>
      <p:sp>
        <p:nvSpPr>
          <p:cNvPr id="15" name="Text 11"/>
          <p:cNvSpPr/>
          <p:nvPr/>
        </p:nvSpPr>
        <p:spPr>
          <a:xfrm>
            <a:off x="785217" y="5424726"/>
            <a:ext cx="7573566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Factors like inflation, interest rates, and unemployment can affect market sentiment and impact stock prices.</a:t>
            </a:r>
            <a:endParaRPr lang="en-US" sz="1361" dirty="0"/>
          </a:p>
        </p:txBody>
      </p:sp>
      <p:sp>
        <p:nvSpPr>
          <p:cNvPr id="16" name="Shape 12"/>
          <p:cNvSpPr/>
          <p:nvPr/>
        </p:nvSpPr>
        <p:spPr>
          <a:xfrm>
            <a:off x="604837" y="6331029"/>
            <a:ext cx="7934325" cy="1287423"/>
          </a:xfrm>
          <a:prstGeom prst="roundRect">
            <a:avLst>
              <a:gd name="adj" fmla="val 563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5217" y="6511409"/>
            <a:ext cx="2602349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Investor Sentiment</a:t>
            </a:r>
            <a:endParaRPr lang="en-US" sz="1701" dirty="0"/>
          </a:p>
        </p:txBody>
      </p:sp>
      <p:sp>
        <p:nvSpPr>
          <p:cNvPr id="18" name="Text 14"/>
          <p:cNvSpPr/>
          <p:nvPr/>
        </p:nvSpPr>
        <p:spPr>
          <a:xfrm>
            <a:off x="785217" y="6884908"/>
            <a:ext cx="7573566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overall mood of investors, driven by news, events, and expectations, can significantly influence stock prices.</a:t>
            </a:r>
            <a:endParaRPr lang="en-US" sz="1361" dirty="0"/>
          </a:p>
        </p:txBody>
      </p:sp>
      <p:pic>
        <p:nvPicPr>
          <p:cNvPr id="19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268" y="2131338"/>
            <a:ext cx="5015865" cy="39668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535" y="969407"/>
            <a:ext cx="7826931" cy="11758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30"/>
              </a:lnSpc>
              <a:buNone/>
            </a:pPr>
            <a:r>
              <a:rPr lang="en-US" sz="370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 and Preprocessing</a:t>
            </a:r>
            <a:endParaRPr lang="en-US" sz="3704" dirty="0"/>
          </a:p>
        </p:txBody>
      </p:sp>
      <p:sp>
        <p:nvSpPr>
          <p:cNvPr id="7" name="Shape 3"/>
          <p:cNvSpPr/>
          <p:nvPr/>
        </p:nvSpPr>
        <p:spPr>
          <a:xfrm>
            <a:off x="929283" y="2427446"/>
            <a:ext cx="22860" cy="4832747"/>
          </a:xfrm>
          <a:prstGeom prst="roundRect">
            <a:avLst>
              <a:gd name="adj" fmla="val 345722"/>
            </a:avLst>
          </a:prstGeom>
          <a:solidFill>
            <a:srgbClr val="BCDBD4"/>
          </a:solidFill>
          <a:ln/>
        </p:spPr>
      </p:sp>
      <p:sp>
        <p:nvSpPr>
          <p:cNvPr id="8" name="Shape 4"/>
          <p:cNvSpPr/>
          <p:nvPr/>
        </p:nvSpPr>
        <p:spPr>
          <a:xfrm>
            <a:off x="1129486" y="2839164"/>
            <a:ext cx="658535" cy="22860"/>
          </a:xfrm>
          <a:prstGeom prst="roundRect">
            <a:avLst>
              <a:gd name="adj" fmla="val 345722"/>
            </a:avLst>
          </a:prstGeom>
          <a:solidFill>
            <a:srgbClr val="BCDBD4"/>
          </a:solidFill>
          <a:ln/>
        </p:spPr>
      </p:sp>
      <p:sp>
        <p:nvSpPr>
          <p:cNvPr id="9" name="Shape 5"/>
          <p:cNvSpPr/>
          <p:nvPr/>
        </p:nvSpPr>
        <p:spPr>
          <a:xfrm>
            <a:off x="729079" y="2639020"/>
            <a:ext cx="423267" cy="423267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7311" y="2709505"/>
            <a:ext cx="146804" cy="2822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222"/>
              </a:lnSpc>
              <a:buNone/>
            </a:pPr>
            <a:r>
              <a:rPr lang="en-US" sz="2222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222" dirty="0"/>
          </a:p>
        </p:txBody>
      </p:sp>
      <p:sp>
        <p:nvSpPr>
          <p:cNvPr id="11" name="Text 7"/>
          <p:cNvSpPr/>
          <p:nvPr/>
        </p:nvSpPr>
        <p:spPr>
          <a:xfrm>
            <a:off x="1975604" y="2615565"/>
            <a:ext cx="2352080" cy="2940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315"/>
              </a:lnSpc>
              <a:buNone/>
            </a:pPr>
            <a:r>
              <a:rPr lang="en-US" sz="1852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Sources</a:t>
            </a:r>
            <a:endParaRPr lang="en-US" sz="1852" dirty="0"/>
          </a:p>
        </p:txBody>
      </p:sp>
      <p:sp>
        <p:nvSpPr>
          <p:cNvPr id="12" name="Text 8"/>
          <p:cNvSpPr/>
          <p:nvPr/>
        </p:nvSpPr>
        <p:spPr>
          <a:xfrm>
            <a:off x="1975604" y="3022521"/>
            <a:ext cx="6509861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371"/>
              </a:lnSpc>
              <a:buNone/>
            </a:pPr>
            <a:r>
              <a:rPr lang="en-US" sz="1482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news websites, stock exchanges, and government databases provide a wealth of data on stock prices, company financials, and market indicators.</a:t>
            </a:r>
            <a:endParaRPr lang="en-US" sz="1482" dirty="0"/>
          </a:p>
        </p:txBody>
      </p:sp>
      <p:sp>
        <p:nvSpPr>
          <p:cNvPr id="13" name="Shape 9"/>
          <p:cNvSpPr/>
          <p:nvPr/>
        </p:nvSpPr>
        <p:spPr>
          <a:xfrm>
            <a:off x="1129486" y="4713446"/>
            <a:ext cx="658535" cy="22860"/>
          </a:xfrm>
          <a:prstGeom prst="roundRect">
            <a:avLst>
              <a:gd name="adj" fmla="val 345722"/>
            </a:avLst>
          </a:prstGeom>
          <a:solidFill>
            <a:srgbClr val="BCDBD4"/>
          </a:solidFill>
          <a:ln/>
        </p:spPr>
      </p:sp>
      <p:sp>
        <p:nvSpPr>
          <p:cNvPr id="14" name="Shape 10"/>
          <p:cNvSpPr/>
          <p:nvPr/>
        </p:nvSpPr>
        <p:spPr>
          <a:xfrm>
            <a:off x="729079" y="4513302"/>
            <a:ext cx="423267" cy="423267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00" y="4583787"/>
            <a:ext cx="235625" cy="2822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222"/>
              </a:lnSpc>
              <a:buNone/>
            </a:pPr>
            <a:r>
              <a:rPr lang="en-US" sz="2222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222" dirty="0"/>
          </a:p>
        </p:txBody>
      </p:sp>
      <p:sp>
        <p:nvSpPr>
          <p:cNvPr id="16" name="Text 12"/>
          <p:cNvSpPr/>
          <p:nvPr/>
        </p:nvSpPr>
        <p:spPr>
          <a:xfrm>
            <a:off x="1975604" y="4489847"/>
            <a:ext cx="2352080" cy="2940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315"/>
              </a:lnSpc>
              <a:buNone/>
            </a:pPr>
            <a:r>
              <a:rPr lang="en-US" sz="1852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Cleaning</a:t>
            </a:r>
            <a:endParaRPr lang="en-US" sz="1852" dirty="0"/>
          </a:p>
        </p:txBody>
      </p:sp>
      <p:sp>
        <p:nvSpPr>
          <p:cNvPr id="17" name="Text 13"/>
          <p:cNvSpPr/>
          <p:nvPr/>
        </p:nvSpPr>
        <p:spPr>
          <a:xfrm>
            <a:off x="1975604" y="4896803"/>
            <a:ext cx="6509861" cy="601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371"/>
              </a:lnSpc>
              <a:buNone/>
            </a:pPr>
            <a:r>
              <a:rPr lang="en-US" sz="1482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Removing duplicates, handling missing values, and correcting inconsistencies ensures data accuracy and reliability for analysis.</a:t>
            </a:r>
            <a:endParaRPr lang="en-US" sz="1482" dirty="0"/>
          </a:p>
        </p:txBody>
      </p:sp>
      <p:sp>
        <p:nvSpPr>
          <p:cNvPr id="18" name="Shape 14"/>
          <p:cNvSpPr/>
          <p:nvPr/>
        </p:nvSpPr>
        <p:spPr>
          <a:xfrm>
            <a:off x="1129486" y="6286738"/>
            <a:ext cx="658535" cy="22860"/>
          </a:xfrm>
          <a:prstGeom prst="roundRect">
            <a:avLst>
              <a:gd name="adj" fmla="val 345722"/>
            </a:avLst>
          </a:prstGeom>
          <a:solidFill>
            <a:srgbClr val="BCDBD4"/>
          </a:solidFill>
          <a:ln/>
        </p:spPr>
      </p:sp>
      <p:sp>
        <p:nvSpPr>
          <p:cNvPr id="19" name="Shape 15"/>
          <p:cNvSpPr/>
          <p:nvPr/>
        </p:nvSpPr>
        <p:spPr>
          <a:xfrm>
            <a:off x="729079" y="6086594"/>
            <a:ext cx="423267" cy="423267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305" y="6157079"/>
            <a:ext cx="236815" cy="2822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222"/>
              </a:lnSpc>
              <a:buNone/>
            </a:pPr>
            <a:r>
              <a:rPr lang="en-US" sz="2222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222" dirty="0"/>
          </a:p>
        </p:txBody>
      </p:sp>
      <p:sp>
        <p:nvSpPr>
          <p:cNvPr id="21" name="Text 17"/>
          <p:cNvSpPr/>
          <p:nvPr/>
        </p:nvSpPr>
        <p:spPr>
          <a:xfrm>
            <a:off x="1975604" y="6063139"/>
            <a:ext cx="2805827" cy="2940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315"/>
              </a:lnSpc>
              <a:buNone/>
            </a:pPr>
            <a:r>
              <a:rPr lang="en-US" sz="1852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Extraction</a:t>
            </a:r>
            <a:endParaRPr lang="en-US" sz="1852" dirty="0"/>
          </a:p>
        </p:txBody>
      </p:sp>
      <p:sp>
        <p:nvSpPr>
          <p:cNvPr id="22" name="Text 18"/>
          <p:cNvSpPr/>
          <p:nvPr/>
        </p:nvSpPr>
        <p:spPr>
          <a:xfrm>
            <a:off x="1975604" y="6470094"/>
            <a:ext cx="6509861" cy="601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371"/>
              </a:lnSpc>
              <a:buNone/>
            </a:pPr>
            <a:r>
              <a:rPr lang="en-US" sz="1482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relevant features from raw data, such as price history, company fundamentals, and market indicators, for model training.</a:t>
            </a:r>
            <a:endParaRPr lang="en-US" sz="1482" dirty="0"/>
          </a:p>
        </p:txBody>
      </p:sp>
      <p:pic>
        <p:nvPicPr>
          <p:cNvPr id="23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979" y="1412796"/>
            <a:ext cx="5054322" cy="54040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4837" y="1214080"/>
            <a:ext cx="5464373" cy="540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4253"/>
              </a:lnSpc>
              <a:buNone/>
            </a:pPr>
            <a:r>
              <a:rPr lang="en-US" sz="3402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</a:t>
            </a:r>
            <a:endParaRPr lang="en-US" sz="3402" dirty="0"/>
          </a:p>
        </p:txBody>
      </p:sp>
      <p:sp>
        <p:nvSpPr>
          <p:cNvPr id="7" name="Shape 3"/>
          <p:cNvSpPr/>
          <p:nvPr/>
        </p:nvSpPr>
        <p:spPr>
          <a:xfrm>
            <a:off x="604837" y="2207657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758" y="2272427"/>
            <a:ext cx="134898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041" dirty="0"/>
          </a:p>
        </p:txBody>
      </p:sp>
      <p:sp>
        <p:nvSpPr>
          <p:cNvPr id="9" name="Text 5"/>
          <p:cNvSpPr/>
          <p:nvPr/>
        </p:nvSpPr>
        <p:spPr>
          <a:xfrm>
            <a:off x="1166336" y="2207657"/>
            <a:ext cx="2752249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Technical Indicators</a:t>
            </a:r>
            <a:endParaRPr lang="en-US" sz="1701" dirty="0"/>
          </a:p>
        </p:txBody>
      </p:sp>
      <p:sp>
        <p:nvSpPr>
          <p:cNvPr id="10" name="Text 6"/>
          <p:cNvSpPr/>
          <p:nvPr/>
        </p:nvSpPr>
        <p:spPr>
          <a:xfrm>
            <a:off x="1166336" y="2581156"/>
            <a:ext cx="7372826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Moving averages, relative strength index (RSI), and other technical indicators derived from price data can provide insights into price trends.</a:t>
            </a:r>
            <a:endParaRPr lang="en-US" sz="1361" dirty="0"/>
          </a:p>
        </p:txBody>
      </p:sp>
      <p:sp>
        <p:nvSpPr>
          <p:cNvPr id="11" name="Shape 7"/>
          <p:cNvSpPr/>
          <p:nvPr/>
        </p:nvSpPr>
        <p:spPr>
          <a:xfrm>
            <a:off x="604837" y="3501390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0920" y="3566160"/>
            <a:ext cx="216456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041" dirty="0"/>
          </a:p>
        </p:txBody>
      </p:sp>
      <p:sp>
        <p:nvSpPr>
          <p:cNvPr id="13" name="Text 9"/>
          <p:cNvSpPr/>
          <p:nvPr/>
        </p:nvSpPr>
        <p:spPr>
          <a:xfrm>
            <a:off x="1166336" y="3501390"/>
            <a:ext cx="2762845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Fundamental Ratios</a:t>
            </a:r>
            <a:endParaRPr lang="en-US" sz="1701" dirty="0"/>
          </a:p>
        </p:txBody>
      </p:sp>
      <p:sp>
        <p:nvSpPr>
          <p:cNvPr id="14" name="Text 10"/>
          <p:cNvSpPr/>
          <p:nvPr/>
        </p:nvSpPr>
        <p:spPr>
          <a:xfrm>
            <a:off x="1166336" y="3874889"/>
            <a:ext cx="7372826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ratios like price-to-earnings (P/E) ratio, debt-to-equity ratio, and return on equity (ROE) reflect a company's financial health.</a:t>
            </a:r>
            <a:endParaRPr lang="en-US" sz="1361" dirty="0"/>
          </a:p>
        </p:txBody>
      </p:sp>
      <p:sp>
        <p:nvSpPr>
          <p:cNvPr id="15" name="Shape 11"/>
          <p:cNvSpPr/>
          <p:nvPr/>
        </p:nvSpPr>
        <p:spPr>
          <a:xfrm>
            <a:off x="604837" y="4795123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0443" y="4859893"/>
            <a:ext cx="217527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041" dirty="0"/>
          </a:p>
        </p:txBody>
      </p:sp>
      <p:sp>
        <p:nvSpPr>
          <p:cNvPr id="17" name="Text 13"/>
          <p:cNvSpPr/>
          <p:nvPr/>
        </p:nvSpPr>
        <p:spPr>
          <a:xfrm>
            <a:off x="1166336" y="4795123"/>
            <a:ext cx="2646283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Sentiment Analysis</a:t>
            </a:r>
            <a:endParaRPr lang="en-US" sz="1701" dirty="0"/>
          </a:p>
        </p:txBody>
      </p:sp>
      <p:sp>
        <p:nvSpPr>
          <p:cNvPr id="18" name="Text 14"/>
          <p:cNvSpPr/>
          <p:nvPr/>
        </p:nvSpPr>
        <p:spPr>
          <a:xfrm>
            <a:off x="1166336" y="5168622"/>
            <a:ext cx="7372826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Analyzing news articles, social media posts, and other text data to gauge investor sentiment and its impact on stock prices.</a:t>
            </a:r>
            <a:endParaRPr lang="en-US" sz="1361" dirty="0"/>
          </a:p>
        </p:txBody>
      </p:sp>
      <p:sp>
        <p:nvSpPr>
          <p:cNvPr id="19" name="Shape 15"/>
          <p:cNvSpPr/>
          <p:nvPr/>
        </p:nvSpPr>
        <p:spPr>
          <a:xfrm>
            <a:off x="604837" y="6088856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7586" y="6153626"/>
            <a:ext cx="223242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041" dirty="0"/>
          </a:p>
        </p:txBody>
      </p:sp>
      <p:sp>
        <p:nvSpPr>
          <p:cNvPr id="21" name="Text 17"/>
          <p:cNvSpPr/>
          <p:nvPr/>
        </p:nvSpPr>
        <p:spPr>
          <a:xfrm>
            <a:off x="1166336" y="6088856"/>
            <a:ext cx="2853809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Time Series Features</a:t>
            </a:r>
            <a:endParaRPr lang="en-US" sz="1701" dirty="0"/>
          </a:p>
        </p:txBody>
      </p:sp>
      <p:sp>
        <p:nvSpPr>
          <p:cNvPr id="22" name="Text 18"/>
          <p:cNvSpPr/>
          <p:nvPr/>
        </p:nvSpPr>
        <p:spPr>
          <a:xfrm>
            <a:off x="1166336" y="6462355"/>
            <a:ext cx="7372826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Extracting features from past price data, such as seasonality, trends, and volatility, can aid in predicting future price movements.</a:t>
            </a:r>
            <a:endParaRPr lang="en-US" sz="1361" dirty="0"/>
          </a:p>
        </p:txBody>
      </p:sp>
      <p:pic>
        <p:nvPicPr>
          <p:cNvPr id="23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1619726"/>
            <a:ext cx="12902327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Machine Learning Algorithms for Prediction</a:t>
            </a:r>
            <a:endParaRPr lang="en-US" sz="4860" dirty="0"/>
          </a:p>
        </p:txBody>
      </p:sp>
      <p:sp>
        <p:nvSpPr>
          <p:cNvPr id="5" name="Text 3"/>
          <p:cNvSpPr/>
          <p:nvPr/>
        </p:nvSpPr>
        <p:spPr>
          <a:xfrm>
            <a:off x="864037" y="3779877"/>
            <a:ext cx="3679031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Regression Models</a:t>
            </a:r>
            <a:endParaRPr lang="en-US" sz="2430" dirty="0"/>
          </a:p>
        </p:txBody>
      </p:sp>
      <p:sp>
        <p:nvSpPr>
          <p:cNvPr id="6" name="Text 4"/>
          <p:cNvSpPr/>
          <p:nvPr/>
        </p:nvSpPr>
        <p:spPr>
          <a:xfrm>
            <a:off x="864037" y="4412456"/>
            <a:ext cx="3898821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Linear regression, support vector regression (SVR), and neural networks are commonly used to predict continuous stock prices.</a:t>
            </a:r>
            <a:endParaRPr lang="en-US" sz="1944" dirty="0"/>
          </a:p>
        </p:txBody>
      </p:sp>
      <p:sp>
        <p:nvSpPr>
          <p:cNvPr id="7" name="Text 5"/>
          <p:cNvSpPr/>
          <p:nvPr/>
        </p:nvSpPr>
        <p:spPr>
          <a:xfrm>
            <a:off x="5372695" y="3779877"/>
            <a:ext cx="3898821" cy="771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Classification Models</a:t>
            </a:r>
            <a:endParaRPr lang="en-US" sz="2430" dirty="0"/>
          </a:p>
        </p:txBody>
      </p:sp>
      <p:sp>
        <p:nvSpPr>
          <p:cNvPr id="8" name="Text 6"/>
          <p:cNvSpPr/>
          <p:nvPr/>
        </p:nvSpPr>
        <p:spPr>
          <a:xfrm>
            <a:off x="5372695" y="4798219"/>
            <a:ext cx="3898821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regression, decision trees, and random forests can predict categorical outcomes like "buy," "sell," or "hold."</a:t>
            </a:r>
            <a:endParaRPr lang="en-US" sz="1944" dirty="0"/>
          </a:p>
        </p:txBody>
      </p:sp>
      <p:sp>
        <p:nvSpPr>
          <p:cNvPr id="9" name="Text 7"/>
          <p:cNvSpPr/>
          <p:nvPr/>
        </p:nvSpPr>
        <p:spPr>
          <a:xfrm>
            <a:off x="9881354" y="3779877"/>
            <a:ext cx="3745706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Time Series Models</a:t>
            </a:r>
            <a:endParaRPr lang="en-US" sz="2430" dirty="0"/>
          </a:p>
        </p:txBody>
      </p:sp>
      <p:sp>
        <p:nvSpPr>
          <p:cNvPr id="10" name="Text 8"/>
          <p:cNvSpPr/>
          <p:nvPr/>
        </p:nvSpPr>
        <p:spPr>
          <a:xfrm>
            <a:off x="9881354" y="4412456"/>
            <a:ext cx="3898821" cy="19752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ARIMA, LSTM, and other time series models are specifically designed to analyze and predict time-dependent data, such as stock prices.</a:t>
            </a:r>
            <a:endParaRPr lang="en-US" sz="1944" dirty="0"/>
          </a:p>
        </p:txBody>
      </p:sp>
      <p:pic>
        <p:nvPicPr>
          <p:cNvPr id="11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25" y="2720935"/>
            <a:ext cx="5015151" cy="27876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5887" y="1266587"/>
            <a:ext cx="7825026" cy="11777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37"/>
              </a:lnSpc>
              <a:buNone/>
            </a:pPr>
            <a:r>
              <a:rPr lang="en-US" sz="3709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Evaluation and Optimization</a:t>
            </a:r>
            <a:endParaRPr lang="en-US" sz="3709" dirty="0"/>
          </a:p>
        </p:txBody>
      </p:sp>
      <p:sp>
        <p:nvSpPr>
          <p:cNvPr id="7" name="Shape 3"/>
          <p:cNvSpPr/>
          <p:nvPr/>
        </p:nvSpPr>
        <p:spPr>
          <a:xfrm>
            <a:off x="6145887" y="2727008"/>
            <a:ext cx="7825026" cy="4236006"/>
          </a:xfrm>
          <a:prstGeom prst="roundRect">
            <a:avLst>
              <a:gd name="adj" fmla="val 186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153507" y="2734628"/>
            <a:ext cx="7809786" cy="5426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6341864" y="2855238"/>
            <a:ext cx="3524369" cy="301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74"/>
              </a:lnSpc>
              <a:buNone/>
            </a:pPr>
            <a:r>
              <a:rPr lang="en-US" sz="148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Metric</a:t>
            </a:r>
            <a:endParaRPr lang="en-US" sz="1484" dirty="0"/>
          </a:p>
        </p:txBody>
      </p:sp>
      <p:sp>
        <p:nvSpPr>
          <p:cNvPr id="10" name="Text 6"/>
          <p:cNvSpPr/>
          <p:nvPr/>
        </p:nvSpPr>
        <p:spPr>
          <a:xfrm>
            <a:off x="10250567" y="2855238"/>
            <a:ext cx="3524369" cy="301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74"/>
              </a:lnSpc>
              <a:buNone/>
            </a:pPr>
            <a:r>
              <a:rPr lang="en-US" sz="148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Description</a:t>
            </a:r>
            <a:endParaRPr lang="en-US" sz="1484" dirty="0"/>
          </a:p>
        </p:txBody>
      </p:sp>
      <p:sp>
        <p:nvSpPr>
          <p:cNvPr id="11" name="Shape 7"/>
          <p:cNvSpPr/>
          <p:nvPr/>
        </p:nvSpPr>
        <p:spPr>
          <a:xfrm>
            <a:off x="6153507" y="3277314"/>
            <a:ext cx="7809786" cy="8441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341864" y="3397925"/>
            <a:ext cx="3524369" cy="301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74"/>
              </a:lnSpc>
              <a:buNone/>
            </a:pPr>
            <a:r>
              <a:rPr lang="en-US" sz="148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</a:t>
            </a:r>
            <a:endParaRPr lang="en-US" sz="1484" dirty="0"/>
          </a:p>
        </p:txBody>
      </p:sp>
      <p:sp>
        <p:nvSpPr>
          <p:cNvPr id="13" name="Text 9"/>
          <p:cNvSpPr/>
          <p:nvPr/>
        </p:nvSpPr>
        <p:spPr>
          <a:xfrm>
            <a:off x="10250567" y="3397925"/>
            <a:ext cx="3524369" cy="602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74"/>
              </a:lnSpc>
              <a:buNone/>
            </a:pPr>
            <a:r>
              <a:rPr lang="en-US" sz="148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percentage of correct predictions made by the model.</a:t>
            </a:r>
            <a:endParaRPr lang="en-US" sz="1484" dirty="0"/>
          </a:p>
        </p:txBody>
      </p:sp>
      <p:sp>
        <p:nvSpPr>
          <p:cNvPr id="14" name="Shape 10"/>
          <p:cNvSpPr/>
          <p:nvPr/>
        </p:nvSpPr>
        <p:spPr>
          <a:xfrm>
            <a:off x="6153507" y="4121468"/>
            <a:ext cx="7809786" cy="8441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341864" y="4242078"/>
            <a:ext cx="3524369" cy="301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74"/>
              </a:lnSpc>
              <a:buNone/>
            </a:pPr>
            <a:r>
              <a:rPr lang="en-US" sz="148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Precision</a:t>
            </a:r>
            <a:endParaRPr lang="en-US" sz="1484" dirty="0"/>
          </a:p>
        </p:txBody>
      </p:sp>
      <p:sp>
        <p:nvSpPr>
          <p:cNvPr id="16" name="Text 12"/>
          <p:cNvSpPr/>
          <p:nvPr/>
        </p:nvSpPr>
        <p:spPr>
          <a:xfrm>
            <a:off x="10250567" y="4242078"/>
            <a:ext cx="3524369" cy="602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74"/>
              </a:lnSpc>
              <a:buNone/>
            </a:pPr>
            <a:r>
              <a:rPr lang="en-US" sz="148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percentage of positive predictions that are actually correct.</a:t>
            </a:r>
            <a:endParaRPr lang="en-US" sz="1484" dirty="0"/>
          </a:p>
        </p:txBody>
      </p:sp>
      <p:sp>
        <p:nvSpPr>
          <p:cNvPr id="17" name="Shape 13"/>
          <p:cNvSpPr/>
          <p:nvPr/>
        </p:nvSpPr>
        <p:spPr>
          <a:xfrm>
            <a:off x="6153507" y="4965621"/>
            <a:ext cx="7809786" cy="8441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341864" y="5086231"/>
            <a:ext cx="3524369" cy="301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74"/>
              </a:lnSpc>
              <a:buNone/>
            </a:pPr>
            <a:r>
              <a:rPr lang="en-US" sz="148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Recall</a:t>
            </a:r>
            <a:endParaRPr lang="en-US" sz="1484" dirty="0"/>
          </a:p>
        </p:txBody>
      </p:sp>
      <p:sp>
        <p:nvSpPr>
          <p:cNvPr id="19" name="Text 15"/>
          <p:cNvSpPr/>
          <p:nvPr/>
        </p:nvSpPr>
        <p:spPr>
          <a:xfrm>
            <a:off x="10250567" y="5086231"/>
            <a:ext cx="3524369" cy="602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74"/>
              </a:lnSpc>
              <a:buNone/>
            </a:pPr>
            <a:r>
              <a:rPr lang="en-US" sz="148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percentage of actual positive cases that are correctly predicted.</a:t>
            </a:r>
            <a:endParaRPr lang="en-US" sz="1484" dirty="0"/>
          </a:p>
        </p:txBody>
      </p:sp>
      <p:sp>
        <p:nvSpPr>
          <p:cNvPr id="20" name="Shape 16"/>
          <p:cNvSpPr/>
          <p:nvPr/>
        </p:nvSpPr>
        <p:spPr>
          <a:xfrm>
            <a:off x="6153507" y="5809774"/>
            <a:ext cx="7809786" cy="11456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6341864" y="5930384"/>
            <a:ext cx="3524369" cy="301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74"/>
              </a:lnSpc>
              <a:buNone/>
            </a:pPr>
            <a:r>
              <a:rPr lang="en-US" sz="148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F1-score</a:t>
            </a:r>
            <a:endParaRPr lang="en-US" sz="1484" dirty="0"/>
          </a:p>
        </p:txBody>
      </p:sp>
      <p:sp>
        <p:nvSpPr>
          <p:cNvPr id="22" name="Text 18"/>
          <p:cNvSpPr/>
          <p:nvPr/>
        </p:nvSpPr>
        <p:spPr>
          <a:xfrm>
            <a:off x="10250567" y="5930384"/>
            <a:ext cx="3524369" cy="904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74"/>
              </a:lnSpc>
              <a:buNone/>
            </a:pPr>
            <a:r>
              <a:rPr lang="en-US" sz="1484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harmonic mean of precision and recall, providing a balanced measure of model performance.</a:t>
            </a:r>
            <a:endParaRPr lang="en-US" sz="1484" dirty="0"/>
          </a:p>
        </p:txBody>
      </p:sp>
      <p:pic>
        <p:nvPicPr>
          <p:cNvPr id="23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34" y="2268736"/>
            <a:ext cx="5017413" cy="36920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3030" y="1136213"/>
            <a:ext cx="7830741" cy="11727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17"/>
              </a:lnSpc>
              <a:buNone/>
            </a:pPr>
            <a:r>
              <a:rPr lang="en-US" sz="369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Practical Applications and Use Cases</a:t>
            </a:r>
            <a:endParaRPr lang="en-US" sz="369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030" y="2590324"/>
            <a:ext cx="938093" cy="15010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62468" y="2777847"/>
            <a:ext cx="2931914" cy="2931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309"/>
              </a:lnSpc>
              <a:buNone/>
            </a:pPr>
            <a:r>
              <a:rPr lang="en-US" sz="184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Algorithmic Trading</a:t>
            </a:r>
            <a:endParaRPr lang="en-US" sz="1847" dirty="0"/>
          </a:p>
        </p:txBody>
      </p:sp>
      <p:sp>
        <p:nvSpPr>
          <p:cNvPr id="9" name="Text 4"/>
          <p:cNvSpPr/>
          <p:nvPr/>
        </p:nvSpPr>
        <p:spPr>
          <a:xfrm>
            <a:off x="7362468" y="3183493"/>
            <a:ext cx="6611303" cy="6003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364"/>
              </a:lnSpc>
              <a:buNone/>
            </a:pPr>
            <a:r>
              <a:rPr lang="en-US" sz="1477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trading systems use prediction models to execute trades based on real-time market data.</a:t>
            </a:r>
            <a:endParaRPr lang="en-US" sz="147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030" y="4091345"/>
            <a:ext cx="938093" cy="15010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62468" y="4278868"/>
            <a:ext cx="5110043" cy="2931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309"/>
              </a:lnSpc>
              <a:buNone/>
            </a:pPr>
            <a:r>
              <a:rPr lang="en-US" sz="184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Investment Portfolio Management</a:t>
            </a:r>
            <a:endParaRPr lang="en-US" sz="1847" dirty="0"/>
          </a:p>
        </p:txBody>
      </p:sp>
      <p:sp>
        <p:nvSpPr>
          <p:cNvPr id="12" name="Text 6"/>
          <p:cNvSpPr/>
          <p:nvPr/>
        </p:nvSpPr>
        <p:spPr>
          <a:xfrm>
            <a:off x="7362468" y="4684514"/>
            <a:ext cx="6611303" cy="6003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364"/>
              </a:lnSpc>
              <a:buNone/>
            </a:pPr>
            <a:r>
              <a:rPr lang="en-US" sz="1477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Models can help investors identify undervalued stocks and make informed decisions about asset allocation.</a:t>
            </a:r>
            <a:endParaRPr lang="en-US" sz="1477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030" y="5592366"/>
            <a:ext cx="938093" cy="150102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62468" y="5779889"/>
            <a:ext cx="2679383" cy="2931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309"/>
              </a:lnSpc>
              <a:buNone/>
            </a:pPr>
            <a:r>
              <a:rPr lang="en-US" sz="184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Risk Management</a:t>
            </a:r>
            <a:endParaRPr lang="en-US" sz="1847" dirty="0"/>
          </a:p>
        </p:txBody>
      </p:sp>
      <p:sp>
        <p:nvSpPr>
          <p:cNvPr id="15" name="Text 8"/>
          <p:cNvSpPr/>
          <p:nvPr/>
        </p:nvSpPr>
        <p:spPr>
          <a:xfrm>
            <a:off x="7362468" y="6185535"/>
            <a:ext cx="6611303" cy="6003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364"/>
              </a:lnSpc>
              <a:buNone/>
            </a:pPr>
            <a:r>
              <a:rPr lang="en-US" sz="1477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models can assess market volatility and help investors manage risk by identifying potential downturns.</a:t>
            </a:r>
            <a:endParaRPr lang="en-US" sz="1477" dirty="0"/>
          </a:p>
        </p:txBody>
      </p:sp>
      <p:pic>
        <p:nvPicPr>
          <p:cNvPr id="16" name="Image 5" descr="preencoded.png">
            <a:hlinkClick r:id="rId7" tooltip="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99704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99704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9" y="3563660"/>
            <a:ext cx="5054322" cy="28430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1238" y="475178"/>
            <a:ext cx="7934325" cy="1080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53"/>
              </a:lnSpc>
              <a:buNone/>
            </a:pPr>
            <a:r>
              <a:rPr lang="en-US" sz="3402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and Future Outlook</a:t>
            </a:r>
            <a:endParaRPr lang="en-US" sz="340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238" y="1814513"/>
            <a:ext cx="431959" cy="4319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91238" y="2419231"/>
            <a:ext cx="4861679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Advancements in Machine Learning</a:t>
            </a:r>
            <a:endParaRPr lang="en-US" sz="1701" dirty="0"/>
          </a:p>
        </p:txBody>
      </p:sp>
      <p:sp>
        <p:nvSpPr>
          <p:cNvPr id="9" name="Text 4"/>
          <p:cNvSpPr/>
          <p:nvPr/>
        </p:nvSpPr>
        <p:spPr>
          <a:xfrm>
            <a:off x="6091238" y="2792730"/>
            <a:ext cx="7934325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Continued research and development of new algorithms and techniques will lead to more accurate and sophisticated prediction models.</a:t>
            </a:r>
            <a:endParaRPr lang="en-US" sz="1361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238" y="3864293"/>
            <a:ext cx="431959" cy="43195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1238" y="4469011"/>
            <a:ext cx="2531269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Big Data Analytics</a:t>
            </a:r>
            <a:endParaRPr lang="en-US" sz="1701" dirty="0"/>
          </a:p>
        </p:txBody>
      </p:sp>
      <p:sp>
        <p:nvSpPr>
          <p:cNvPr id="12" name="Text 6"/>
          <p:cNvSpPr/>
          <p:nvPr/>
        </p:nvSpPr>
        <p:spPr>
          <a:xfrm>
            <a:off x="6091238" y="4842510"/>
            <a:ext cx="7934325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availability of vast amounts of data from various sources will enhance model training and improve prediction accuracy.</a:t>
            </a:r>
            <a:endParaRPr lang="en-US" sz="1361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38" y="5914073"/>
            <a:ext cx="431959" cy="4319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91238" y="6518791"/>
            <a:ext cx="3315057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Artificial Intelligence (AI)</a:t>
            </a:r>
            <a:endParaRPr lang="en-US" sz="1701" dirty="0"/>
          </a:p>
        </p:txBody>
      </p:sp>
      <p:sp>
        <p:nvSpPr>
          <p:cNvPr id="15" name="Text 8"/>
          <p:cNvSpPr/>
          <p:nvPr/>
        </p:nvSpPr>
        <p:spPr>
          <a:xfrm>
            <a:off x="6091238" y="6892290"/>
            <a:ext cx="7934325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systems will play a crucial role in analyzing complex market dynamics and generating more accurate predictions.</a:t>
            </a:r>
            <a:endParaRPr lang="en-US" sz="1361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238" y="7963853"/>
            <a:ext cx="431959" cy="43195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091238" y="8568571"/>
            <a:ext cx="3515916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Global Market Integration</a:t>
            </a:r>
            <a:endParaRPr lang="en-US" sz="1701" dirty="0"/>
          </a:p>
        </p:txBody>
      </p:sp>
      <p:sp>
        <p:nvSpPr>
          <p:cNvPr id="18" name="Text 10"/>
          <p:cNvSpPr/>
          <p:nvPr/>
        </p:nvSpPr>
        <p:spPr>
          <a:xfrm>
            <a:off x="6091238" y="8942070"/>
            <a:ext cx="7934325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Predicting stock movements in a globally interconnected market will require sophisticated models that account for cross-border influences.</a:t>
            </a:r>
            <a:endParaRPr lang="en-US" sz="1361" dirty="0"/>
          </a:p>
        </p:txBody>
      </p:sp>
      <p:pic>
        <p:nvPicPr>
          <p:cNvPr id="19" name="Image 6" descr="preencoded.png">
            <a:hlinkClick r:id="rId8" tooltip="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2024-08-03T08:05:55Z</dcterms:created>
  <dcterms:modified xsi:type="dcterms:W3CDTF">2024-08-03T08:05:55Z</dcterms:modified>
</cp:coreProperties>
</file>